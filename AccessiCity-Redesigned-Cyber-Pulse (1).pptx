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embeddedFontLst>
    <p:embeddedFont>
      <p:font typeface="Heebo Light"/>
      <p:regular r:id="rId201314"/>
    </p:embeddedFont>
    <p:embeddedFont>
      <p:font typeface="Heebo"/>
      <p:regular r:id="rId201315"/>
    </p:embeddedFont>
    <p:embeddedFont>
      <p:font typeface="Heebo Medium"/>
      <p:regular r:id="rId201316"/>
    </p:embeddedFont>
    <p:embeddedFont>
      <p:font typeface="Heebo SemiBold"/>
      <p:regular r:id="rId201317"/>
    </p:embeddedFont>
    <p:embeddedFont>
      <p:font typeface="Heebo Bold"/>
      <p:regular r:id="rId201318"/>
    </p:embeddedFont>
    <p:embeddedFont>
      <p:font typeface="Montserrat SemiBold"/>
      <p:regular r:id="rId201319"/>
    </p:embeddedFont>
    <p:embeddedFont>
      <p:font typeface="Montserrat Medium"/>
      <p:regular r:id="rId2013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D0A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D0A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6753" y="1221105"/>
            <a:ext cx="837544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FFFFFF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CYBER PULSE · ACCESSIBILITY INTELLIGENCE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66753" y="1614087"/>
            <a:ext cx="7765856" cy="99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8200" spc="-287" kern="1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ACCESSICITY</a:t>
            </a:r>
            <a:endParaRPr lang="en-US" sz="8200" dirty="0"/>
          </a:p>
        </p:txBody>
      </p:sp>
      <p:sp>
        <p:nvSpPr>
          <p:cNvPr id="4" name="Text 2"/>
          <p:cNvSpPr/>
          <p:nvPr/>
        </p:nvSpPr>
        <p:spPr>
          <a:xfrm>
            <a:off x="866753" y="2700238"/>
            <a:ext cx="837544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Don’t just find a route. Find a route you can actually use.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66753" y="3319859"/>
            <a:ext cx="2562558" cy="31651"/>
          </a:xfrm>
          <a:prstGeom prst="roundRect">
            <a:avLst>
              <a:gd name="adj" fmla="val 49998"/>
            </a:avLst>
          </a:prstGeom>
          <a:solidFill>
            <a:srgbClr val="3B315E"/>
          </a:solidFill>
          <a:ln/>
        </p:spPr>
      </p:sp>
      <p:sp>
        <p:nvSpPr>
          <p:cNvPr id="6" name="Text 4"/>
          <p:cNvSpPr/>
          <p:nvPr/>
        </p:nvSpPr>
        <p:spPr>
          <a:xfrm>
            <a:off x="866753" y="3669209"/>
            <a:ext cx="837544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Accessibility-first smart navigation by Cyber Pulse.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505"/>
            <a:ext cx="6502237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THE GAP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21746"/>
            <a:ext cx="5892653" cy="1776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400" spc="-110" kern="10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 route can be correct — yet unusable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09585" y="2867620"/>
            <a:ext cx="5892653" cy="1399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1450"/>
              </a:spcAft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Traditional navigation optimizes speed and distance, not continuity.</a:t>
            </a:r>
            <a:endParaRPr lang="en-US" sz="17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 short staircase, broken footpath, missing lift, or blocked entrance can invalidate the entire journey.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09585" y="5545907"/>
            <a:ext cx="2095646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109" kern="100" dirty="0">
                <a:solidFill>
                  <a:srgbClr val="9857F9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CORE QUESTION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585" y="5907147"/>
            <a:ext cx="5892653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000" spc="-50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Can the person physically complete the route?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111822" y="0"/>
            <a:ext cx="5079873" cy="6858000"/>
          </a:xfrm>
          <a:prstGeom prst="rect">
            <a:avLst/>
          </a:prstGeom>
          <a:solidFill>
            <a:srgbClr val="18113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1822" y="0"/>
            <a:ext cx="507987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535305"/>
            <a:ext cx="5283068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A ROUTE IN PRACTICE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06390" y="845546"/>
            <a:ext cx="4876678" cy="1776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400" spc="-110" kern="10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500-metre route that still fails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06390" y="2791420"/>
            <a:ext cx="5283068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One nearby building. Two possible journeys.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06390" y="6134953"/>
            <a:ext cx="528306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7" kern="100" dirty="0">
                <a:solidFill>
                  <a:srgbClr val="A8A0B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shortest route is only useful when it remains feasible.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689458" y="0"/>
            <a:ext cx="6502237" cy="6858000"/>
          </a:xfrm>
          <a:prstGeom prst="rect">
            <a:avLst/>
          </a:prstGeom>
          <a:solidFill>
            <a:srgbClr val="0D0A2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4250" y="304800"/>
            <a:ext cx="5892653" cy="472668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94250" y="5221982"/>
            <a:ext cx="2870128" cy="1331218"/>
          </a:xfrm>
          <a:prstGeom prst="rect">
            <a:avLst/>
          </a:prstGeom>
          <a:solidFill>
            <a:srgbClr val="18113D"/>
          </a:solidFill>
          <a:ln/>
        </p:spPr>
      </p:sp>
      <p:sp>
        <p:nvSpPr>
          <p:cNvPr id="9" name="Text 6"/>
          <p:cNvSpPr/>
          <p:nvPr/>
        </p:nvSpPr>
        <p:spPr>
          <a:xfrm>
            <a:off x="6197445" y="5427087"/>
            <a:ext cx="2666933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FF76C8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FASTEST ROUTE · 5 MIN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197445" y="5702213"/>
            <a:ext cx="2463738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Stairs → impossible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9016774" y="5221982"/>
            <a:ext cx="2870128" cy="1331218"/>
          </a:xfrm>
          <a:prstGeom prst="rect">
            <a:avLst/>
          </a:prstGeom>
          <a:solidFill>
            <a:srgbClr val="18113D"/>
          </a:solidFill>
          <a:ln/>
        </p:spPr>
      </p:sp>
      <p:sp>
        <p:nvSpPr>
          <p:cNvPr id="12" name="Text 9"/>
          <p:cNvSpPr/>
          <p:nvPr/>
        </p:nvSpPr>
        <p:spPr>
          <a:xfrm>
            <a:off x="9219969" y="5427087"/>
            <a:ext cx="2666933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52D8FF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ACCESSIBLE ROUTE · 8 MIN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219969" y="5702213"/>
            <a:ext cx="2463738" cy="656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Ramp + elevator → feasible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495346"/>
            <a:ext cx="5257668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THE ROUTING SHIFT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1805587"/>
            <a:ext cx="5257668" cy="1184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400" spc="-110" kern="10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Accessibility is a routing constraint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09585" y="3159224"/>
            <a:ext cx="5257668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Feasibility comes before optimization.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324442" y="1493441"/>
            <a:ext cx="2476438" cy="2603103"/>
          </a:xfrm>
          <a:prstGeom prst="rect">
            <a:avLst/>
          </a:prstGeom>
          <a:solidFill>
            <a:srgbClr val="18113D"/>
          </a:solidFill>
          <a:ln/>
        </p:spPr>
      </p:sp>
      <p:sp>
        <p:nvSpPr>
          <p:cNvPr id="6" name="Text 4"/>
          <p:cNvSpPr/>
          <p:nvPr/>
        </p:nvSpPr>
        <p:spPr>
          <a:xfrm>
            <a:off x="6603835" y="1774746"/>
            <a:ext cx="1917652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DCD7E5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01 · TRADITIONAL MAPS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603835" y="2230191"/>
            <a:ext cx="1917652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Fastest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603835" y="2791123"/>
            <a:ext cx="1917652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Shortest, traffic-aware.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105672" y="1493441"/>
            <a:ext cx="2476438" cy="2603103"/>
          </a:xfrm>
          <a:prstGeom prst="rect">
            <a:avLst/>
          </a:prstGeom>
          <a:solidFill>
            <a:srgbClr val="18113D"/>
          </a:solidFill>
          <a:ln/>
        </p:spPr>
      </p:sp>
      <p:sp>
        <p:nvSpPr>
          <p:cNvPr id="10" name="Text 8"/>
          <p:cNvSpPr/>
          <p:nvPr/>
        </p:nvSpPr>
        <p:spPr>
          <a:xfrm>
            <a:off x="9385065" y="1774746"/>
            <a:ext cx="2197045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DCD7E5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02 · ACCESSICITY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385065" y="2047331"/>
            <a:ext cx="1917652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Feasible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385065" y="2608262"/>
            <a:ext cx="1917652" cy="1208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Step-free, barrier-aware, user-specific, evidence-scored.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324442" y="4220369"/>
            <a:ext cx="5257668" cy="1144191"/>
          </a:xfrm>
          <a:prstGeom prst="roundRect">
            <a:avLst>
              <a:gd name="adj" fmla="val 999"/>
            </a:avLst>
          </a:prstGeom>
          <a:solidFill>
            <a:srgbClr val="4B3F02"/>
          </a:solidFill>
          <a:ln/>
        </p:spPr>
      </p:sp>
      <p:sp>
        <p:nvSpPr>
          <p:cNvPr id="14" name="Text 12"/>
          <p:cNvSpPr/>
          <p:nvPr/>
        </p:nvSpPr>
        <p:spPr>
          <a:xfrm>
            <a:off x="6540336" y="4490244"/>
            <a:ext cx="4825879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Hard barriers remove graph edges.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Uncertain conditions become visible warnings.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505"/>
            <a:ext cx="6235544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THE PRODUCT POSITION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21746"/>
            <a:ext cx="5625959" cy="1776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400" spc="-110" kern="10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AccessiCity is an intelligence layer, not a map clone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09585" y="2867620"/>
            <a:ext cx="6235544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Enrich existing map infrastructure with: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09585" y="3360341"/>
            <a:ext cx="2736782" cy="454620"/>
          </a:xfrm>
          <a:prstGeom prst="rect">
            <a:avLst/>
          </a:prstGeom>
          <a:solidFill>
            <a:srgbClr val="18113D"/>
          </a:solidFill>
          <a:ln/>
        </p:spPr>
      </p:sp>
      <p:sp>
        <p:nvSpPr>
          <p:cNvPr id="6" name="Text 4"/>
          <p:cNvSpPr/>
          <p:nvPr/>
        </p:nvSpPr>
        <p:spPr>
          <a:xfrm>
            <a:off x="685783" y="3436541"/>
            <a:ext cx="2660583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Ramps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498762" y="3360341"/>
            <a:ext cx="2736782" cy="454620"/>
          </a:xfrm>
          <a:prstGeom prst="rect">
            <a:avLst/>
          </a:prstGeom>
          <a:solidFill>
            <a:srgbClr val="18113D"/>
          </a:solidFill>
          <a:ln/>
        </p:spPr>
      </p:sp>
      <p:sp>
        <p:nvSpPr>
          <p:cNvPr id="8" name="Text 6"/>
          <p:cNvSpPr/>
          <p:nvPr/>
        </p:nvSpPr>
        <p:spPr>
          <a:xfrm>
            <a:off x="3574961" y="3436541"/>
            <a:ext cx="2660583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Verified entrances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09585" y="3967361"/>
            <a:ext cx="2736782" cy="454620"/>
          </a:xfrm>
          <a:prstGeom prst="rect">
            <a:avLst/>
          </a:prstGeom>
          <a:solidFill>
            <a:srgbClr val="18113D"/>
          </a:solidFill>
          <a:ln/>
        </p:spPr>
      </p:sp>
      <p:sp>
        <p:nvSpPr>
          <p:cNvPr id="10" name="Text 8"/>
          <p:cNvSpPr/>
          <p:nvPr/>
        </p:nvSpPr>
        <p:spPr>
          <a:xfrm>
            <a:off x="685783" y="4043561"/>
            <a:ext cx="2660583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Lift status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498762" y="3967361"/>
            <a:ext cx="2736782" cy="454620"/>
          </a:xfrm>
          <a:prstGeom prst="rect">
            <a:avLst/>
          </a:prstGeom>
          <a:solidFill>
            <a:srgbClr val="18113D"/>
          </a:solidFill>
          <a:ln/>
        </p:spPr>
      </p:sp>
      <p:sp>
        <p:nvSpPr>
          <p:cNvPr id="12" name="Text 10"/>
          <p:cNvSpPr/>
          <p:nvPr/>
        </p:nvSpPr>
        <p:spPr>
          <a:xfrm>
            <a:off x="3574961" y="4043561"/>
            <a:ext cx="2660583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Stairs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09585" y="4574381"/>
            <a:ext cx="2736782" cy="454620"/>
          </a:xfrm>
          <a:prstGeom prst="rect">
            <a:avLst/>
          </a:prstGeom>
          <a:solidFill>
            <a:srgbClr val="18113D"/>
          </a:solidFill>
          <a:ln/>
        </p:spPr>
      </p:sp>
      <p:sp>
        <p:nvSpPr>
          <p:cNvPr id="14" name="Text 12"/>
          <p:cNvSpPr/>
          <p:nvPr/>
        </p:nvSpPr>
        <p:spPr>
          <a:xfrm>
            <a:off x="685783" y="4650581"/>
            <a:ext cx="2660583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Accessible paths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3498762" y="4574381"/>
            <a:ext cx="2736782" cy="454620"/>
          </a:xfrm>
          <a:prstGeom prst="rect">
            <a:avLst/>
          </a:prstGeom>
          <a:solidFill>
            <a:srgbClr val="18113D"/>
          </a:solidFill>
          <a:ln/>
        </p:spPr>
      </p:sp>
      <p:sp>
        <p:nvSpPr>
          <p:cNvPr id="16" name="Text 14"/>
          <p:cNvSpPr/>
          <p:nvPr/>
        </p:nvSpPr>
        <p:spPr>
          <a:xfrm>
            <a:off x="3574961" y="4650581"/>
            <a:ext cx="2660583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Temporary barriers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09585" y="5181402"/>
            <a:ext cx="2736782" cy="454620"/>
          </a:xfrm>
          <a:prstGeom prst="rect">
            <a:avLst/>
          </a:prstGeom>
          <a:solidFill>
            <a:srgbClr val="18113D"/>
          </a:solidFill>
          <a:ln/>
        </p:spPr>
      </p:sp>
      <p:sp>
        <p:nvSpPr>
          <p:cNvPr id="18" name="Text 16"/>
          <p:cNvSpPr/>
          <p:nvPr/>
        </p:nvSpPr>
        <p:spPr>
          <a:xfrm>
            <a:off x="685783" y="5257602"/>
            <a:ext cx="2660583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Photo evidence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3498762" y="5181402"/>
            <a:ext cx="2736782" cy="454620"/>
          </a:xfrm>
          <a:prstGeom prst="rect">
            <a:avLst/>
          </a:prstGeom>
          <a:solidFill>
            <a:srgbClr val="18113D"/>
          </a:solidFill>
          <a:ln/>
        </p:spPr>
      </p:sp>
      <p:sp>
        <p:nvSpPr>
          <p:cNvPr id="20" name="Text 18"/>
          <p:cNvSpPr/>
          <p:nvPr/>
        </p:nvSpPr>
        <p:spPr>
          <a:xfrm>
            <a:off x="3574961" y="5257602"/>
            <a:ext cx="2660583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Community reports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09585" y="5826681"/>
            <a:ext cx="5625959" cy="379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7" kern="100" dirty="0">
                <a:solidFill>
                  <a:srgbClr val="A8A0B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Every accessibility claim carries confidence and recency so the route can explain why it was chosen.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302317" y="0"/>
            <a:ext cx="4889378" cy="6858000"/>
          </a:xfrm>
          <a:prstGeom prst="rect">
            <a:avLst/>
          </a:prstGeom>
          <a:solidFill>
            <a:srgbClr val="18113D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2317" y="0"/>
            <a:ext cx="488937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505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WHO IT SERVES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21746"/>
            <a:ext cx="10972526" cy="1184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400" spc="-110" kern="10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users are diverse — the need is shared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2275384"/>
            <a:ext cx="3505112" cy="1560016"/>
          </a:xfrm>
          <a:prstGeom prst="rect">
            <a:avLst/>
          </a:prstGeom>
          <a:solidFill>
            <a:srgbClr val="18113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1" y="2427784"/>
            <a:ext cx="736582" cy="736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1981" y="3363329"/>
            <a:ext cx="3200320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Wheelchair users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4419489" y="2275384"/>
            <a:ext cx="3352716" cy="1560016"/>
          </a:xfrm>
          <a:prstGeom prst="rect">
            <a:avLst/>
          </a:prstGeom>
          <a:solidFill>
            <a:srgbClr val="18113D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886" y="2427784"/>
            <a:ext cx="736582" cy="736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1886" y="3363329"/>
            <a:ext cx="3047924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Stroller parents</a:t>
            </a:r>
            <a:endParaRPr lang="en-US" sz="1900" dirty="0"/>
          </a:p>
        </p:txBody>
      </p:sp>
      <p:sp>
        <p:nvSpPr>
          <p:cNvPr id="10" name="Shape 6"/>
          <p:cNvSpPr/>
          <p:nvPr/>
        </p:nvSpPr>
        <p:spPr>
          <a:xfrm>
            <a:off x="8076998" y="2275384"/>
            <a:ext cx="3505112" cy="1560016"/>
          </a:xfrm>
          <a:prstGeom prst="rect">
            <a:avLst/>
          </a:prstGeom>
          <a:solidFill>
            <a:srgbClr val="18113D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394" y="2427784"/>
            <a:ext cx="736582" cy="736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29394" y="3363329"/>
            <a:ext cx="3200320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Older adults</a:t>
            </a:r>
            <a:endParaRPr lang="en-US" sz="1900" dirty="0"/>
          </a:p>
        </p:txBody>
      </p:sp>
      <p:sp>
        <p:nvSpPr>
          <p:cNvPr id="13" name="Shape 8"/>
          <p:cNvSpPr/>
          <p:nvPr/>
        </p:nvSpPr>
        <p:spPr>
          <a:xfrm>
            <a:off x="609585" y="4140200"/>
            <a:ext cx="3505112" cy="1888133"/>
          </a:xfrm>
          <a:prstGeom prst="rect">
            <a:avLst/>
          </a:prstGeom>
          <a:solidFill>
            <a:srgbClr val="18113D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81" y="4292600"/>
            <a:ext cx="736582" cy="736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61981" y="5228146"/>
            <a:ext cx="3200320" cy="656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People with temporary injuries or crutches</a:t>
            </a:r>
            <a:endParaRPr lang="en-US" sz="1900" dirty="0"/>
          </a:p>
        </p:txBody>
      </p:sp>
      <p:sp>
        <p:nvSpPr>
          <p:cNvPr id="16" name="Shape 10"/>
          <p:cNvSpPr/>
          <p:nvPr/>
        </p:nvSpPr>
        <p:spPr>
          <a:xfrm>
            <a:off x="4419489" y="4140200"/>
            <a:ext cx="3352716" cy="1888133"/>
          </a:xfrm>
          <a:prstGeom prst="rect">
            <a:avLst/>
          </a:prstGeom>
          <a:solidFill>
            <a:srgbClr val="18113D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886" y="4292600"/>
            <a:ext cx="736582" cy="7366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571886" y="5228146"/>
            <a:ext cx="3047924" cy="656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People carrying heavy luggage</a:t>
            </a:r>
            <a:endParaRPr lang="en-US" sz="1900" dirty="0"/>
          </a:p>
        </p:txBody>
      </p:sp>
      <p:sp>
        <p:nvSpPr>
          <p:cNvPr id="19" name="Shape 12"/>
          <p:cNvSpPr/>
          <p:nvPr/>
        </p:nvSpPr>
        <p:spPr>
          <a:xfrm>
            <a:off x="8076998" y="4140200"/>
            <a:ext cx="3505112" cy="1888133"/>
          </a:xfrm>
          <a:prstGeom prst="rect">
            <a:avLst/>
          </a:prstGeom>
          <a:solidFill>
            <a:srgbClr val="18113D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394" y="4292600"/>
            <a:ext cx="736582" cy="7366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229394" y="5228146"/>
            <a:ext cx="3200320" cy="656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Anyone who needs a step-free or lower-risk journey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505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THE USER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21746"/>
            <a:ext cx="10972526" cy="592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400" spc="-110" kern="10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Choose → filter → verify → route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09585" y="1683147"/>
            <a:ext cx="1158211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user sees a usable recommendation, not raw map data.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09585" y="2175867"/>
            <a:ext cx="5333867" cy="1423988"/>
          </a:xfrm>
          <a:prstGeom prst="rect">
            <a:avLst/>
          </a:prstGeom>
          <a:solidFill>
            <a:srgbClr val="18113D"/>
          </a:solidFill>
          <a:ln/>
        </p:spPr>
      </p:sp>
      <p:sp>
        <p:nvSpPr>
          <p:cNvPr id="6" name="Text 4"/>
          <p:cNvSpPr/>
          <p:nvPr/>
        </p:nvSpPr>
        <p:spPr>
          <a:xfrm>
            <a:off x="888978" y="2455267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09585" y="2757488"/>
            <a:ext cx="5333867" cy="19050"/>
          </a:xfrm>
          <a:prstGeom prst="rect">
            <a:avLst/>
          </a:prstGeom>
          <a:solidFill>
            <a:srgbClr val="9857F9"/>
          </a:solidFill>
          <a:ln/>
        </p:spPr>
      </p:sp>
      <p:sp>
        <p:nvSpPr>
          <p:cNvPr id="8" name="Text 6"/>
          <p:cNvSpPr/>
          <p:nvPr/>
        </p:nvSpPr>
        <p:spPr>
          <a:xfrm>
            <a:off x="888978" y="2911923"/>
            <a:ext cx="4775081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Enter destination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248244" y="2175867"/>
            <a:ext cx="5333867" cy="1423988"/>
          </a:xfrm>
          <a:prstGeom prst="rect">
            <a:avLst/>
          </a:prstGeom>
          <a:solidFill>
            <a:srgbClr val="18113D"/>
          </a:solidFill>
          <a:ln/>
        </p:spPr>
      </p:sp>
      <p:sp>
        <p:nvSpPr>
          <p:cNvPr id="10" name="Text 8"/>
          <p:cNvSpPr/>
          <p:nvPr/>
        </p:nvSpPr>
        <p:spPr>
          <a:xfrm>
            <a:off x="6527637" y="2455267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48244" y="2757488"/>
            <a:ext cx="5333867" cy="19050"/>
          </a:xfrm>
          <a:prstGeom prst="rect">
            <a:avLst/>
          </a:prstGeom>
          <a:solidFill>
            <a:srgbClr val="9857F9"/>
          </a:solidFill>
          <a:ln/>
        </p:spPr>
      </p:sp>
      <p:sp>
        <p:nvSpPr>
          <p:cNvPr id="12" name="Text 10"/>
          <p:cNvSpPr/>
          <p:nvPr/>
        </p:nvSpPr>
        <p:spPr>
          <a:xfrm>
            <a:off x="6527637" y="2911923"/>
            <a:ext cx="4775081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Select accessibility needs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09585" y="3904655"/>
            <a:ext cx="5333867" cy="1838424"/>
          </a:xfrm>
          <a:prstGeom prst="rect">
            <a:avLst/>
          </a:prstGeom>
          <a:solidFill>
            <a:srgbClr val="18113D"/>
          </a:solidFill>
          <a:ln/>
        </p:spPr>
      </p:sp>
      <p:sp>
        <p:nvSpPr>
          <p:cNvPr id="14" name="Text 12"/>
          <p:cNvSpPr/>
          <p:nvPr/>
        </p:nvSpPr>
        <p:spPr>
          <a:xfrm>
            <a:off x="888978" y="4184055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09585" y="4486275"/>
            <a:ext cx="5333867" cy="19050"/>
          </a:xfrm>
          <a:prstGeom prst="rect">
            <a:avLst/>
          </a:prstGeom>
          <a:solidFill>
            <a:srgbClr val="9857F9"/>
          </a:solidFill>
          <a:ln/>
        </p:spPr>
      </p:sp>
      <p:sp>
        <p:nvSpPr>
          <p:cNvPr id="16" name="Text 14"/>
          <p:cNvSpPr/>
          <p:nvPr/>
        </p:nvSpPr>
        <p:spPr>
          <a:xfrm>
            <a:off x="888978" y="4640711"/>
            <a:ext cx="4775081" cy="828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Check route evidence and live conditions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248244" y="3904655"/>
            <a:ext cx="5333867" cy="1838424"/>
          </a:xfrm>
          <a:prstGeom prst="rect">
            <a:avLst/>
          </a:prstGeom>
          <a:solidFill>
            <a:srgbClr val="18113D"/>
          </a:solidFill>
          <a:ln/>
        </p:spPr>
      </p:sp>
      <p:sp>
        <p:nvSpPr>
          <p:cNvPr id="18" name="Text 16"/>
          <p:cNvSpPr/>
          <p:nvPr/>
        </p:nvSpPr>
        <p:spPr>
          <a:xfrm>
            <a:off x="6527637" y="4184055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04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248244" y="4486275"/>
            <a:ext cx="5333867" cy="19050"/>
          </a:xfrm>
          <a:prstGeom prst="rect">
            <a:avLst/>
          </a:prstGeom>
          <a:solidFill>
            <a:srgbClr val="9857F9"/>
          </a:solidFill>
          <a:ln/>
        </p:spPr>
      </p:sp>
      <p:sp>
        <p:nvSpPr>
          <p:cNvPr id="20" name="Text 18"/>
          <p:cNvSpPr/>
          <p:nvPr/>
        </p:nvSpPr>
        <p:spPr>
          <a:xfrm>
            <a:off x="6527637" y="4640711"/>
            <a:ext cx="4775081" cy="828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Generate the shortest feasible route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505"/>
            <a:ext cx="5333867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PERSONALIZATION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21746"/>
            <a:ext cx="4724282" cy="1776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400" spc="-110" kern="10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Personalized accessibility profiles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09585" y="2867620"/>
            <a:ext cx="4724282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Preferences become routing constraints, not a cosmetic filter.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09585" y="3662561"/>
            <a:ext cx="1750373" cy="336649"/>
          </a:xfrm>
          <a:prstGeom prst="roundRect">
            <a:avLst>
              <a:gd name="adj" fmla="val 3395"/>
            </a:avLst>
          </a:prstGeom>
          <a:noFill/>
          <a:ln w="6350">
            <a:solidFill>
              <a:srgbClr val="9857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9062" y="3727823"/>
            <a:ext cx="2101004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109" kern="100" dirty="0">
                <a:solidFill>
                  <a:srgbClr val="9857F9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PROFILE ACTIVE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9585" y="6058753"/>
            <a:ext cx="5333867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7" kern="100" dirty="0">
                <a:solidFill>
                  <a:srgbClr val="A8A0B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profile turns lived experience into route logic.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48244" y="0"/>
            <a:ext cx="5943451" cy="6858000"/>
          </a:xfrm>
          <a:prstGeom prst="rect">
            <a:avLst/>
          </a:prstGeom>
          <a:solidFill>
            <a:srgbClr val="18113D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423" y="3056434"/>
            <a:ext cx="558786" cy="74503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407190" y="228600"/>
            <a:ext cx="3555911" cy="505420"/>
          </a:xfrm>
          <a:prstGeom prst="rect">
            <a:avLst/>
          </a:prstGeom>
          <a:solidFill>
            <a:srgbClr val="0D0A2C"/>
          </a:solidFill>
          <a:ln/>
        </p:spPr>
      </p:sp>
      <p:sp>
        <p:nvSpPr>
          <p:cNvPr id="11" name="Text 8"/>
          <p:cNvSpPr/>
          <p:nvPr/>
        </p:nvSpPr>
        <p:spPr>
          <a:xfrm>
            <a:off x="8508787" y="330200"/>
            <a:ext cx="3454314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Avoid stairs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8407190" y="886420"/>
            <a:ext cx="3555911" cy="505420"/>
          </a:xfrm>
          <a:prstGeom prst="rect">
            <a:avLst/>
          </a:prstGeom>
          <a:solidFill>
            <a:srgbClr val="0D0A2C"/>
          </a:solidFill>
          <a:ln/>
        </p:spPr>
      </p:sp>
      <p:sp>
        <p:nvSpPr>
          <p:cNvPr id="13" name="Text 10"/>
          <p:cNvSpPr/>
          <p:nvPr/>
        </p:nvSpPr>
        <p:spPr>
          <a:xfrm>
            <a:off x="8508787" y="988020"/>
            <a:ext cx="3454314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Require ramps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8407190" y="1544241"/>
            <a:ext cx="3555911" cy="505420"/>
          </a:xfrm>
          <a:prstGeom prst="rect">
            <a:avLst/>
          </a:prstGeom>
          <a:solidFill>
            <a:srgbClr val="0D0A2C"/>
          </a:solidFill>
          <a:ln/>
        </p:spPr>
      </p:sp>
      <p:sp>
        <p:nvSpPr>
          <p:cNvPr id="15" name="Text 12"/>
          <p:cNvSpPr/>
          <p:nvPr/>
        </p:nvSpPr>
        <p:spPr>
          <a:xfrm>
            <a:off x="8508787" y="1645841"/>
            <a:ext cx="3454314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Require working elevators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8407190" y="2202061"/>
            <a:ext cx="3555911" cy="807641"/>
          </a:xfrm>
          <a:prstGeom prst="rect">
            <a:avLst/>
          </a:prstGeom>
          <a:solidFill>
            <a:srgbClr val="0D0A2C"/>
          </a:solidFill>
          <a:ln/>
        </p:spPr>
      </p:sp>
      <p:sp>
        <p:nvSpPr>
          <p:cNvPr id="17" name="Text 14"/>
          <p:cNvSpPr/>
          <p:nvPr/>
        </p:nvSpPr>
        <p:spPr>
          <a:xfrm>
            <a:off x="8508787" y="2303661"/>
            <a:ext cx="3352716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Avoid steep slopes and difficult crossings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8407190" y="3162102"/>
            <a:ext cx="3555911" cy="505420"/>
          </a:xfrm>
          <a:prstGeom prst="rect">
            <a:avLst/>
          </a:prstGeom>
          <a:solidFill>
            <a:srgbClr val="0D0A2C"/>
          </a:solidFill>
          <a:ln/>
        </p:spPr>
      </p:sp>
      <p:sp>
        <p:nvSpPr>
          <p:cNvPr id="19" name="Text 16"/>
          <p:cNvSpPr/>
          <p:nvPr/>
        </p:nvSpPr>
        <p:spPr>
          <a:xfrm>
            <a:off x="8508787" y="3263702"/>
            <a:ext cx="3454314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Prefer smooth footpaths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505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ROUTE TRADE-OFFS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21746"/>
            <a:ext cx="10972526" cy="592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400" spc="-110" kern="10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Shortest is not always best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09585" y="1683147"/>
            <a:ext cx="1158211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AccessiCity optimizes for usability, not distance.</a:t>
            </a:r>
            <a:endParaRPr lang="en-US" sz="1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175867"/>
          <a:ext cx="10972526" cy="914400"/>
        </p:xfrm>
        <a:graphic>
          <a:graphicData uri="http://schemas.openxmlformats.org/drawingml/2006/table">
            <a:tbl>
              <a:tblPr/>
              <a:tblGrid>
                <a:gridCol w="2743131"/>
                <a:gridCol w="1536066"/>
                <a:gridCol w="3730631"/>
                <a:gridCol w="2962697"/>
              </a:tblGrid>
              <a:tr h="4875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2F0F4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ROUTE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2F0F4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TIME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2F0F4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CONDITIONS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2F0F4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DECISION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5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Route A — Fastest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5 min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2 stairs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76C8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Not feasible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5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Route B — Shortest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6 min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Broken footpath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76C8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Risky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48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Route C — Accessible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9 min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Ramp + elevator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52D8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Recommended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505"/>
            <a:ext cx="6431198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EXPLAINABLE OUTPUT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21746"/>
            <a:ext cx="5821614" cy="1776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400" spc="-110" kern="10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One score makes trade-offs understandable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09585" y="2867620"/>
            <a:ext cx="6431198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recommendation comes with evidence, not a black box.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09585" y="3360341"/>
            <a:ext cx="2834609" cy="960041"/>
          </a:xfrm>
          <a:prstGeom prst="rect">
            <a:avLst/>
          </a:prstGeom>
          <a:solidFill>
            <a:srgbClr val="18113D"/>
          </a:solidFill>
          <a:ln/>
        </p:spPr>
      </p:sp>
      <p:sp>
        <p:nvSpPr>
          <p:cNvPr id="6" name="Text 4"/>
          <p:cNvSpPr/>
          <p:nvPr/>
        </p:nvSpPr>
        <p:spPr>
          <a:xfrm>
            <a:off x="787380" y="3538141"/>
            <a:ext cx="2656813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Step-free continuity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596590" y="3360341"/>
            <a:ext cx="2834609" cy="960041"/>
          </a:xfrm>
          <a:prstGeom prst="rect">
            <a:avLst/>
          </a:prstGeom>
          <a:solidFill>
            <a:srgbClr val="18113D"/>
          </a:solidFill>
          <a:ln/>
        </p:spPr>
      </p:sp>
      <p:sp>
        <p:nvSpPr>
          <p:cNvPr id="8" name="Text 6"/>
          <p:cNvSpPr/>
          <p:nvPr/>
        </p:nvSpPr>
        <p:spPr>
          <a:xfrm>
            <a:off x="3774385" y="3538141"/>
            <a:ext cx="2479018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Footpath quality and slope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09585" y="4472682"/>
            <a:ext cx="2834609" cy="960041"/>
          </a:xfrm>
          <a:prstGeom prst="rect">
            <a:avLst/>
          </a:prstGeom>
          <a:solidFill>
            <a:srgbClr val="18113D"/>
          </a:solidFill>
          <a:ln/>
        </p:spPr>
      </p:sp>
      <p:sp>
        <p:nvSpPr>
          <p:cNvPr id="10" name="Text 8"/>
          <p:cNvSpPr/>
          <p:nvPr/>
        </p:nvSpPr>
        <p:spPr>
          <a:xfrm>
            <a:off x="787380" y="4650482"/>
            <a:ext cx="2479018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Ramp and elevator availability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596590" y="4472682"/>
            <a:ext cx="2834609" cy="960041"/>
          </a:xfrm>
          <a:prstGeom prst="rect">
            <a:avLst/>
          </a:prstGeom>
          <a:solidFill>
            <a:srgbClr val="18113D"/>
          </a:solidFill>
          <a:ln/>
        </p:spPr>
      </p:sp>
      <p:sp>
        <p:nvSpPr>
          <p:cNvPr id="12" name="Text 10"/>
          <p:cNvSpPr/>
          <p:nvPr/>
        </p:nvSpPr>
        <p:spPr>
          <a:xfrm>
            <a:off x="3774385" y="4650482"/>
            <a:ext cx="2479018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Crossing difficulty and obstacles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09585" y="5585023"/>
            <a:ext cx="5821614" cy="657820"/>
          </a:xfrm>
          <a:prstGeom prst="rect">
            <a:avLst/>
          </a:prstGeom>
          <a:solidFill>
            <a:srgbClr val="18113D"/>
          </a:solidFill>
          <a:ln/>
        </p:spPr>
      </p:sp>
      <p:sp>
        <p:nvSpPr>
          <p:cNvPr id="14" name="Text 12"/>
          <p:cNvSpPr/>
          <p:nvPr/>
        </p:nvSpPr>
        <p:spPr>
          <a:xfrm>
            <a:off x="787380" y="5762823"/>
            <a:ext cx="5643818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Confidence and recency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497873" y="0"/>
            <a:ext cx="4693822" cy="6858000"/>
          </a:xfrm>
          <a:prstGeom prst="rect">
            <a:avLst/>
          </a:prstGeom>
          <a:solidFill>
            <a:srgbClr val="18113D"/>
          </a:solidFill>
          <a:ln/>
        </p:spPr>
      </p:sp>
      <p:sp>
        <p:nvSpPr>
          <p:cNvPr id="16" name="Text 14"/>
          <p:cNvSpPr/>
          <p:nvPr/>
        </p:nvSpPr>
        <p:spPr>
          <a:xfrm>
            <a:off x="7878863" y="1769626"/>
            <a:ext cx="4312832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7" kern="100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ACCESSIBILITY SCORE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878863" y="2447524"/>
            <a:ext cx="3931841" cy="99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8200" spc="-287" kern="100" dirty="0">
                <a:solidFill>
                  <a:srgbClr val="D84C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92</a:t>
            </a:r>
            <a:endParaRPr lang="en-US" sz="8200" dirty="0"/>
          </a:p>
        </p:txBody>
      </p:sp>
      <p:sp>
        <p:nvSpPr>
          <p:cNvPr id="18" name="Text 16"/>
          <p:cNvSpPr/>
          <p:nvPr/>
        </p:nvSpPr>
        <p:spPr>
          <a:xfrm>
            <a:off x="7878863" y="3543391"/>
            <a:ext cx="3931841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100" dirty="0">
                <a:solidFill>
                  <a:srgbClr val="DCD7E5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/100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7878863" y="4181872"/>
            <a:ext cx="3931841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Hard barriers are removed. Low-confidence evidence creates warnings or penalties. Verified access is preferred.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357505"/>
            <a:ext cx="1173450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THE PRODUCT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189" y="667746"/>
            <a:ext cx="11277318" cy="592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400" spc="-110" kern="10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AccessiCity adds intelligence to the map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189" y="1429147"/>
            <a:ext cx="11734506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An accessibility decision layer over OpenStreetMap — not a map clone.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0" y="3505200"/>
            <a:ext cx="2933627" cy="3352800"/>
          </a:xfrm>
          <a:prstGeom prst="rect">
            <a:avLst/>
          </a:prstGeom>
          <a:solidFill>
            <a:srgbClr val="18113D"/>
          </a:solidFill>
          <a:ln/>
        </p:spPr>
      </p:sp>
      <p:sp>
        <p:nvSpPr>
          <p:cNvPr id="6" name="Text 4"/>
          <p:cNvSpPr/>
          <p:nvPr/>
        </p:nvSpPr>
        <p:spPr>
          <a:xfrm>
            <a:off x="228594" y="3735705"/>
            <a:ext cx="2705032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DCD7E5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WHEELCHAIR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594" y="4008291"/>
            <a:ext cx="2476438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Access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28594" y="4569222"/>
            <a:ext cx="2705032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entrance, lift, curb cuts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086023" y="3505200"/>
            <a:ext cx="2933627" cy="3352800"/>
          </a:xfrm>
          <a:prstGeom prst="rect">
            <a:avLst/>
          </a:prstGeom>
          <a:solidFill>
            <a:srgbClr val="18113D"/>
          </a:solidFill>
          <a:ln/>
        </p:spPr>
      </p:sp>
      <p:sp>
        <p:nvSpPr>
          <p:cNvPr id="10" name="Text 8"/>
          <p:cNvSpPr/>
          <p:nvPr/>
        </p:nvSpPr>
        <p:spPr>
          <a:xfrm>
            <a:off x="3314617" y="3735705"/>
            <a:ext cx="2705032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DCD7E5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FOOTWAY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14617" y="4008291"/>
            <a:ext cx="2476438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Continuity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314617" y="4569222"/>
            <a:ext cx="2476438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surface, width, obstruction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172046" y="3505200"/>
            <a:ext cx="2933627" cy="3352800"/>
          </a:xfrm>
          <a:prstGeom prst="rect">
            <a:avLst/>
          </a:prstGeom>
          <a:solidFill>
            <a:srgbClr val="18113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640" y="3735705"/>
            <a:ext cx="2705032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DCD7E5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STEPS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640" y="4008291"/>
            <a:ext cx="2476438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Barriers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400640" y="4569222"/>
            <a:ext cx="2476438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count, handrail, alternatives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258068" y="3505200"/>
            <a:ext cx="2933627" cy="3352800"/>
          </a:xfrm>
          <a:prstGeom prst="rect">
            <a:avLst/>
          </a:prstGeom>
          <a:solidFill>
            <a:srgbClr val="18113D"/>
          </a:solidFill>
          <a:ln/>
        </p:spPr>
      </p:sp>
      <p:sp>
        <p:nvSpPr>
          <p:cNvPr id="18" name="Text 16"/>
          <p:cNvSpPr/>
          <p:nvPr/>
        </p:nvSpPr>
        <p:spPr>
          <a:xfrm>
            <a:off x="9486663" y="3735705"/>
            <a:ext cx="2705032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DCD7E5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INCLINE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486663" y="4008291"/>
            <a:ext cx="2476438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Effort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486663" y="4569222"/>
            <a:ext cx="2705032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slope, grade, fatigue risk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91" y="408305"/>
            <a:ext cx="4460168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THE ACCESSIBILITY GRAPH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55591" y="718546"/>
            <a:ext cx="4104577" cy="2368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400" spc="-110" kern="10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Routes are feasible paths, not just short paths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55591" y="3256657"/>
            <a:ext cx="4104577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OSM features become a graph of </a:t>
            </a:r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nodes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and </a:t>
            </a:r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edges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 Each edge carries accessibility tags and a travel cost.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55591" y="4419080"/>
            <a:ext cx="2492710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109" kern="100" dirty="0">
                <a:solidFill>
                  <a:srgbClr val="9857F9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HARD CONSTRAINTS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55591" y="4880967"/>
            <a:ext cx="4104577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Remove impossible segments first: stairs without an alternative, blocked footways, inaccessible entrances.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968056" y="0"/>
            <a:ext cx="7223639" cy="6858000"/>
          </a:xfrm>
          <a:prstGeom prst="rect">
            <a:avLst/>
          </a:prstGeom>
          <a:solidFill>
            <a:srgbClr val="18113D"/>
          </a:solidFill>
          <a:ln/>
        </p:spPr>
      </p:sp>
      <p:sp>
        <p:nvSpPr>
          <p:cNvPr id="8" name="Shape 6"/>
          <p:cNvSpPr/>
          <p:nvPr/>
        </p:nvSpPr>
        <p:spPr>
          <a:xfrm>
            <a:off x="5272849" y="304800"/>
            <a:ext cx="3230779" cy="3048000"/>
          </a:xfrm>
          <a:prstGeom prst="rect">
            <a:avLst/>
          </a:prstGeom>
          <a:solidFill>
            <a:srgbClr val="FF76C8"/>
          </a:solidFill>
          <a:ln/>
        </p:spPr>
      </p:sp>
      <p:sp>
        <p:nvSpPr>
          <p:cNvPr id="9" name="Text 7"/>
          <p:cNvSpPr/>
          <p:nvPr/>
        </p:nvSpPr>
        <p:spPr>
          <a:xfrm>
            <a:off x="5450644" y="484505"/>
            <a:ext cx="3052984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000000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NODES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50644" y="757091"/>
            <a:ext cx="2875188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100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Places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450644" y="1318022"/>
            <a:ext cx="2875188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crossings · entrances · lifts · junctions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656024" y="304800"/>
            <a:ext cx="3230879" cy="3048000"/>
          </a:xfrm>
          <a:prstGeom prst="rect">
            <a:avLst/>
          </a:prstGeom>
          <a:solidFill>
            <a:srgbClr val="FF76C8"/>
          </a:solidFill>
          <a:ln/>
        </p:spPr>
      </p:sp>
      <p:sp>
        <p:nvSpPr>
          <p:cNvPr id="13" name="Text 11"/>
          <p:cNvSpPr/>
          <p:nvPr/>
        </p:nvSpPr>
        <p:spPr>
          <a:xfrm>
            <a:off x="8833820" y="484505"/>
            <a:ext cx="3053083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000000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EDGES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833820" y="757091"/>
            <a:ext cx="2875287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100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Segments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833820" y="1318022"/>
            <a:ext cx="2875287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footways · ramps · stairs · road crossings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272849" y="3505200"/>
            <a:ext cx="6614054" cy="3048000"/>
          </a:xfrm>
          <a:prstGeom prst="rect">
            <a:avLst/>
          </a:prstGeom>
          <a:solidFill>
            <a:srgbClr val="6157FF"/>
          </a:solidFill>
          <a:ln/>
        </p:spPr>
      </p:sp>
      <p:sp>
        <p:nvSpPr>
          <p:cNvPr id="17" name="Text 15"/>
          <p:cNvSpPr/>
          <p:nvPr/>
        </p:nvSpPr>
        <p:spPr>
          <a:xfrm>
            <a:off x="5476043" y="3710305"/>
            <a:ext cx="6410859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FFFFFF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ROUTING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76043" y="3982891"/>
            <a:ext cx="6207664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1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Dijkstra / A*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476043" y="4543822"/>
            <a:ext cx="6207664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Hard constraints + soft penalties for distance, incline, uncertainty, and effort.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357505"/>
            <a:ext cx="1173450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SYSTEM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189" y="667746"/>
            <a:ext cx="11277318" cy="592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400" spc="-110" kern="10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Choose → filter → verify → route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189" y="1429147"/>
            <a:ext cx="11734506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Five steps turn a destination request into a route a person can use.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0" y="2336701"/>
            <a:ext cx="2316501" cy="2184598"/>
          </a:xfrm>
          <a:prstGeom prst="rect">
            <a:avLst/>
          </a:prstGeom>
          <a:solidFill>
            <a:srgbClr val="18113D"/>
          </a:solidFill>
          <a:ln/>
        </p:spPr>
      </p:sp>
      <p:sp>
        <p:nvSpPr>
          <p:cNvPr id="6" name="Text 4"/>
          <p:cNvSpPr/>
          <p:nvPr/>
        </p:nvSpPr>
        <p:spPr>
          <a:xfrm>
            <a:off x="203195" y="2541806"/>
            <a:ext cx="2113307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DCD7E5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03195" y="2814391"/>
            <a:ext cx="1910112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Choose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03195" y="3375323"/>
            <a:ext cx="1910112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Set destination and profile.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468798" y="2336701"/>
            <a:ext cx="2316501" cy="2184598"/>
          </a:xfrm>
          <a:prstGeom prst="rect">
            <a:avLst/>
          </a:prstGeom>
          <a:solidFill>
            <a:srgbClr val="18113D"/>
          </a:solidFill>
          <a:ln/>
        </p:spPr>
      </p:sp>
      <p:sp>
        <p:nvSpPr>
          <p:cNvPr id="10" name="Text 8"/>
          <p:cNvSpPr/>
          <p:nvPr/>
        </p:nvSpPr>
        <p:spPr>
          <a:xfrm>
            <a:off x="2671993" y="2541806"/>
            <a:ext cx="2113307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DCD7E5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71993" y="2814391"/>
            <a:ext cx="1910112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Filter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671993" y="3375323"/>
            <a:ext cx="1910112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Apply hard constraints.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937597" y="2336701"/>
            <a:ext cx="2316501" cy="2184598"/>
          </a:xfrm>
          <a:prstGeom prst="rect">
            <a:avLst/>
          </a:prstGeom>
          <a:solidFill>
            <a:srgbClr val="18113D"/>
          </a:solidFill>
          <a:ln/>
        </p:spPr>
      </p:sp>
      <p:sp>
        <p:nvSpPr>
          <p:cNvPr id="14" name="Text 12"/>
          <p:cNvSpPr/>
          <p:nvPr/>
        </p:nvSpPr>
        <p:spPr>
          <a:xfrm>
            <a:off x="5140792" y="2541806"/>
            <a:ext cx="2113307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DCD7E5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40792" y="2814391"/>
            <a:ext cx="1910112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Verify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140792" y="3375323"/>
            <a:ext cx="1910112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Check evidence and confidence.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406395" y="2336701"/>
            <a:ext cx="2316501" cy="2184598"/>
          </a:xfrm>
          <a:prstGeom prst="rect">
            <a:avLst/>
          </a:prstGeom>
          <a:solidFill>
            <a:srgbClr val="18113D"/>
          </a:solidFill>
          <a:ln/>
        </p:spPr>
      </p:sp>
      <p:sp>
        <p:nvSpPr>
          <p:cNvPr id="18" name="Text 16"/>
          <p:cNvSpPr/>
          <p:nvPr/>
        </p:nvSpPr>
        <p:spPr>
          <a:xfrm>
            <a:off x="7609590" y="2541806"/>
            <a:ext cx="2113307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DCD7E5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609590" y="2814391"/>
            <a:ext cx="1910112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Route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609590" y="3375323"/>
            <a:ext cx="2113307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Run Dijkstra or A*.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9875194" y="2336701"/>
            <a:ext cx="2316501" cy="2184598"/>
          </a:xfrm>
          <a:prstGeom prst="rect">
            <a:avLst/>
          </a:prstGeom>
          <a:solidFill>
            <a:srgbClr val="18113D"/>
          </a:solidFill>
          <a:ln/>
        </p:spPr>
      </p:sp>
      <p:sp>
        <p:nvSpPr>
          <p:cNvPr id="22" name="Text 20"/>
          <p:cNvSpPr/>
          <p:nvPr/>
        </p:nvSpPr>
        <p:spPr>
          <a:xfrm>
            <a:off x="10078388" y="2541806"/>
            <a:ext cx="2113307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DCD7E5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78388" y="2814391"/>
            <a:ext cx="1910112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Explain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0078388" y="3375323"/>
            <a:ext cx="1910112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Return GeoJSON and trade-offs.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0" y="4673600"/>
            <a:ext cx="12191695" cy="2184400"/>
          </a:xfrm>
          <a:prstGeom prst="rect">
            <a:avLst/>
          </a:prstGeom>
          <a:solidFill>
            <a:srgbClr val="18113D"/>
          </a:solidFill>
          <a:ln/>
        </p:spPr>
      </p:sp>
      <p:sp>
        <p:nvSpPr>
          <p:cNvPr id="26" name="Text 24"/>
          <p:cNvSpPr/>
          <p:nvPr/>
        </p:nvSpPr>
        <p:spPr>
          <a:xfrm>
            <a:off x="228594" y="4902200"/>
            <a:ext cx="11734506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Profile-aware: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wheelchair user, low-vision traveler, limited stamina, or a route that avoids stairs — the same graph, different constraints.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357505"/>
            <a:ext cx="1173450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REQUEST TO ROUTE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189" y="667746"/>
            <a:ext cx="11277318" cy="592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400" spc="-110" kern="10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One clear flow from client to GeoJSON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0" y="2336701"/>
            <a:ext cx="2316501" cy="2184598"/>
          </a:xfrm>
          <a:prstGeom prst="rect">
            <a:avLst/>
          </a:prstGeom>
          <a:solidFill>
            <a:srgbClr val="18113D"/>
          </a:solidFill>
          <a:ln/>
        </p:spPr>
      </p:sp>
      <p:sp>
        <p:nvSpPr>
          <p:cNvPr id="5" name="Text 3"/>
          <p:cNvSpPr/>
          <p:nvPr/>
        </p:nvSpPr>
        <p:spPr>
          <a:xfrm>
            <a:off x="228594" y="2567206"/>
            <a:ext cx="2087907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DCD7E5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28594" y="2839791"/>
            <a:ext cx="1859313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Client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28594" y="3400723"/>
            <a:ext cx="1859313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Profile + origin + destination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468798" y="2336701"/>
            <a:ext cx="2316501" cy="2184598"/>
          </a:xfrm>
          <a:prstGeom prst="rect">
            <a:avLst/>
          </a:prstGeom>
          <a:solidFill>
            <a:srgbClr val="6157FF"/>
          </a:solidFill>
          <a:ln/>
        </p:spPr>
      </p:sp>
      <p:sp>
        <p:nvSpPr>
          <p:cNvPr id="9" name="Text 7"/>
          <p:cNvSpPr/>
          <p:nvPr/>
        </p:nvSpPr>
        <p:spPr>
          <a:xfrm>
            <a:off x="2697393" y="2567206"/>
            <a:ext cx="2087907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FFFFFF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97393" y="2839791"/>
            <a:ext cx="1859313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1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API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697393" y="3400723"/>
            <a:ext cx="2087907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Validate request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937597" y="2336701"/>
            <a:ext cx="2316501" cy="2184598"/>
          </a:xfrm>
          <a:prstGeom prst="rect">
            <a:avLst/>
          </a:prstGeom>
          <a:solidFill>
            <a:srgbClr val="18113D"/>
          </a:solidFill>
          <a:ln/>
        </p:spPr>
      </p:sp>
      <p:sp>
        <p:nvSpPr>
          <p:cNvPr id="13" name="Text 11"/>
          <p:cNvSpPr/>
          <p:nvPr/>
        </p:nvSpPr>
        <p:spPr>
          <a:xfrm>
            <a:off x="5166191" y="2567206"/>
            <a:ext cx="2087907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DCD7E5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66191" y="2839791"/>
            <a:ext cx="1859313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Spatial DB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166191" y="3400723"/>
            <a:ext cx="2087907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PostGIS features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406395" y="2336701"/>
            <a:ext cx="2316501" cy="2184598"/>
          </a:xfrm>
          <a:prstGeom prst="rect">
            <a:avLst/>
          </a:prstGeom>
          <a:solidFill>
            <a:srgbClr val="6157FF"/>
          </a:solidFill>
          <a:ln/>
        </p:spPr>
      </p:sp>
      <p:sp>
        <p:nvSpPr>
          <p:cNvPr id="17" name="Text 15"/>
          <p:cNvSpPr/>
          <p:nvPr/>
        </p:nvSpPr>
        <p:spPr>
          <a:xfrm>
            <a:off x="7634989" y="2567206"/>
            <a:ext cx="2087907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FFFFFF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634989" y="2839791"/>
            <a:ext cx="1859313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1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Graph filter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634989" y="3400723"/>
            <a:ext cx="1859313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Constraints + penalties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875194" y="2336701"/>
            <a:ext cx="2316501" cy="2184598"/>
          </a:xfrm>
          <a:prstGeom prst="rect">
            <a:avLst/>
          </a:prstGeom>
          <a:solidFill>
            <a:srgbClr val="18113D"/>
          </a:solidFill>
          <a:ln/>
        </p:spPr>
      </p:sp>
      <p:sp>
        <p:nvSpPr>
          <p:cNvPr id="21" name="Text 19"/>
          <p:cNvSpPr/>
          <p:nvPr/>
        </p:nvSpPr>
        <p:spPr>
          <a:xfrm>
            <a:off x="10103788" y="2567206"/>
            <a:ext cx="2087907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DCD7E5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05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103788" y="2839791"/>
            <a:ext cx="1859313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10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GeoJSON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0103788" y="3400723"/>
            <a:ext cx="2087907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Route + reasons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0" y="4673600"/>
            <a:ext cx="12191695" cy="2184400"/>
          </a:xfrm>
          <a:prstGeom prst="rect">
            <a:avLst/>
          </a:prstGeom>
          <a:solidFill>
            <a:srgbClr val="FF76C8"/>
          </a:solidFill>
          <a:ln/>
        </p:spPr>
      </p:sp>
      <p:sp>
        <p:nvSpPr>
          <p:cNvPr id="25" name="Text 23"/>
          <p:cNvSpPr/>
          <p:nvPr/>
        </p:nvSpPr>
        <p:spPr>
          <a:xfrm>
            <a:off x="304792" y="4902200"/>
            <a:ext cx="11582110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Frontend: profile controls, route map, accessible explanations.   Backend: spatial queries, graph construction, routing, confidence-aware output.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990" y="357505"/>
            <a:ext cx="5237428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TRUST OVER TIME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80990" y="667746"/>
            <a:ext cx="4856438" cy="1184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400" spc="-110" kern="10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Evidence is part of the route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80990" y="2021384"/>
            <a:ext cx="4856438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Community reports become stronger when signals agree — and weaker when they age.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80990" y="2881586"/>
            <a:ext cx="2645304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109" kern="100" dirty="0">
                <a:solidFill>
                  <a:srgbClr val="9857F9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CONFIDENCE SIGNALS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80990" y="3343473"/>
            <a:ext cx="4856438" cy="1727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Community consensus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Contributor reputation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Timestamp freshness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Geofenced observations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Temporal confidence decay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770716" y="0"/>
            <a:ext cx="6420979" cy="6858000"/>
          </a:xfrm>
          <a:prstGeom prst="rect">
            <a:avLst/>
          </a:prstGeom>
          <a:solidFill>
            <a:srgbClr val="18113D"/>
          </a:solidFill>
          <a:ln/>
        </p:spPr>
      </p:sp>
      <p:sp>
        <p:nvSpPr>
          <p:cNvPr id="8" name="Text 6"/>
          <p:cNvSpPr/>
          <p:nvPr/>
        </p:nvSpPr>
        <p:spPr>
          <a:xfrm>
            <a:off x="6075508" y="306705"/>
            <a:ext cx="6116187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DCD7E5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ASSISTING LAYER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75508" y="605326"/>
            <a:ext cx="5811394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100" dirty="0">
                <a:solidFill>
                  <a:srgbClr val="DCD7E5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Computer vision helps verify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075508" y="1701502"/>
            <a:ext cx="5811394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Photos can suggest stairs, surface breaks, or blocked entrances. They support review; they are not the final authority.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075508" y="2852638"/>
            <a:ext cx="1917751" cy="38100"/>
          </a:xfrm>
          <a:prstGeom prst="roundRect">
            <a:avLst>
              <a:gd name="adj" fmla="val 49999"/>
            </a:avLst>
          </a:prstGeom>
          <a:solidFill>
            <a:srgbClr val="9857F9"/>
          </a:solidFill>
          <a:ln/>
        </p:spPr>
      </p:sp>
      <p:sp>
        <p:nvSpPr>
          <p:cNvPr id="12" name="Text 10"/>
          <p:cNvSpPr/>
          <p:nvPr/>
        </p:nvSpPr>
        <p:spPr>
          <a:xfrm>
            <a:off x="6075508" y="3135372"/>
            <a:ext cx="5811394" cy="379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7" kern="100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Privacy-aware by design: minimize precise location retention and strip unnecessary photo metadata.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990" y="357505"/>
            <a:ext cx="5237428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BUILD THE MVP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80990" y="667746"/>
            <a:ext cx="4856438" cy="1184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400" spc="-110" kern="10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Start focused. Prove the loop.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80990" y="2021384"/>
            <a:ext cx="4856438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One campus or a small number of metro hubs — enough density to learn from real routes.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80990" y="2881586"/>
            <a:ext cx="2086717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109" kern="100" dirty="0">
                <a:solidFill>
                  <a:srgbClr val="9857F9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MVP BOUNDARY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80990" y="3343473"/>
            <a:ext cx="4856438" cy="1370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Accessible profiles and destination search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OSM + PostGIS accessibility features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Constraint-aware graph routing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Community evidence and explanations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770716" y="0"/>
            <a:ext cx="6420979" cy="6858000"/>
          </a:xfrm>
          <a:prstGeom prst="rect">
            <a:avLst/>
          </a:prstGeom>
          <a:solidFill>
            <a:srgbClr val="18113D"/>
          </a:solidFill>
          <a:ln/>
        </p:spPr>
      </p:sp>
      <p:sp>
        <p:nvSpPr>
          <p:cNvPr id="8" name="Text 6"/>
          <p:cNvSpPr/>
          <p:nvPr/>
        </p:nvSpPr>
        <p:spPr>
          <a:xfrm>
            <a:off x="6075508" y="306705"/>
            <a:ext cx="6116187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DCD7E5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TECHNICAL STACK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75508" y="605326"/>
            <a:ext cx="5811394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100" dirty="0">
                <a:solidFill>
                  <a:srgbClr val="DCD7E5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Composable by design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6075508" y="1243806"/>
            <a:ext cx="2829450" cy="1476077"/>
          </a:xfrm>
          <a:prstGeom prst="rect">
            <a:avLst/>
          </a:prstGeom>
          <a:solidFill>
            <a:srgbClr val="FF76C8"/>
          </a:solidFill>
          <a:ln/>
        </p:spPr>
      </p:sp>
      <p:sp>
        <p:nvSpPr>
          <p:cNvPr id="11" name="Text 9"/>
          <p:cNvSpPr/>
          <p:nvPr/>
        </p:nvSpPr>
        <p:spPr>
          <a:xfrm>
            <a:off x="6227904" y="1402112"/>
            <a:ext cx="2524657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100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Frontend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227904" y="1963043"/>
            <a:ext cx="2524657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Map, profile, route narrative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9057354" y="1243806"/>
            <a:ext cx="2829549" cy="1476077"/>
          </a:xfrm>
          <a:prstGeom prst="rect">
            <a:avLst/>
          </a:prstGeom>
          <a:solidFill>
            <a:srgbClr val="FF76C8"/>
          </a:solidFill>
          <a:ln/>
        </p:spPr>
      </p:sp>
      <p:sp>
        <p:nvSpPr>
          <p:cNvPr id="14" name="Text 12"/>
          <p:cNvSpPr/>
          <p:nvPr/>
        </p:nvSpPr>
        <p:spPr>
          <a:xfrm>
            <a:off x="9209750" y="1402112"/>
            <a:ext cx="2524756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100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Backend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209750" y="1963043"/>
            <a:ext cx="2677153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API, graph, confidence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075508" y="2872284"/>
            <a:ext cx="2829450" cy="1173857"/>
          </a:xfrm>
          <a:prstGeom prst="rect">
            <a:avLst/>
          </a:prstGeom>
          <a:solidFill>
            <a:srgbClr val="FF76C8"/>
          </a:solidFill>
          <a:ln/>
        </p:spPr>
      </p:sp>
      <p:sp>
        <p:nvSpPr>
          <p:cNvPr id="17" name="Text 15"/>
          <p:cNvSpPr/>
          <p:nvPr/>
        </p:nvSpPr>
        <p:spPr>
          <a:xfrm>
            <a:off x="6227904" y="3030589"/>
            <a:ext cx="2524657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100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Data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227904" y="3591520"/>
            <a:ext cx="2677053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OSM, PostGIS, GeoJSON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9057354" y="2872284"/>
            <a:ext cx="2829549" cy="1173857"/>
          </a:xfrm>
          <a:prstGeom prst="rect">
            <a:avLst/>
          </a:prstGeom>
          <a:solidFill>
            <a:srgbClr val="FF76C8"/>
          </a:solidFill>
          <a:ln/>
        </p:spPr>
      </p:sp>
      <p:sp>
        <p:nvSpPr>
          <p:cNvPr id="20" name="Text 18"/>
          <p:cNvSpPr/>
          <p:nvPr/>
        </p:nvSpPr>
        <p:spPr>
          <a:xfrm>
            <a:off x="9209750" y="3030589"/>
            <a:ext cx="2524756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100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Algorithms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209750" y="3591520"/>
            <a:ext cx="2677153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Dijkstra, A*, penalties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2026-10-07T07:18:13Z</dcterms:created>
  <dcterms:modified xsi:type="dcterms:W3CDTF">2026-10-07T07:18:13Z</dcterms:modified>
</cp:coreProperties>
</file>